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81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BF1FA"/>
                </a:solidFill>
              </a:rPr>
              <a:t>AI-Based Cybersecurity
Digital Twin with Attack Prediction</a:t>
            </a:r>
          </a:p>
          <a:p>
            <a:pPr>
              <a:spcBef>
                <a:spcPts val="1200"/>
              </a:spcBef>
              <a:defRPr sz="1800">
                <a:solidFill>
                  <a:srgbClr val="41DCBE"/>
                </a:solidFill>
              </a:defRPr>
            </a:pPr>
            <a:r>
              <a:t>College Seminar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3291840" cy="141732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64008" cy="141732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822191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279392"/>
            <a:ext cx="29260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Network simulation, attack-path prediction and dynamic cyber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657600"/>
            <a:ext cx="3291840" cy="141732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3657600"/>
            <a:ext cx="64008" cy="1417320"/>
          </a:xfrm>
          <a:prstGeom prst="rect">
            <a:avLst/>
          </a:prstGeom>
          <a:solidFill>
            <a:srgbClr val="48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3822191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891FF"/>
                </a:solidFill>
              </a:rPr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4279392"/>
            <a:ext cx="29260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Digital Twin + transparent AI-inspired prediction + XAI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657600"/>
            <a:ext cx="3291840" cy="141732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3657600"/>
            <a:ext cx="64008" cy="141732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3822191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4279392"/>
            <a:ext cx="29260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Prioritized threats and simulated defense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</a:defRPr>
            </a:pPr>
            <a:r>
              <a:t>• Cybersecurity teams need to understand how vulnerabilities can combine into multi-hop attack trajectories.</a:t>
            </a:r>
          </a:p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</a:defRPr>
            </a:pPr>
            <a:r>
              <a:t>• This project builds a virtual representation of a network and evaluates its security posture.</a:t>
            </a:r>
          </a:p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</a:defRPr>
            </a:pPr>
            <a:r>
              <a:t>• It predicts and ranks possible attack paths, explains why a path is risky, recommends defenses, and recalculates risk after simulated changes.</a:t>
            </a:r>
          </a:p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</a:defRPr>
            </a:pPr>
            <a:r>
              <a:t>• The prototype follows a closed-loop security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Why a digital-twin approach is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17373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1737360"/>
          </a:xfrm>
          <a:prstGeom prst="rect">
            <a:avLst/>
          </a:prstGeom>
          <a:solidFill>
            <a:srgbClr val="F55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5D70"/>
                </a:solidFill>
              </a:rPr>
              <a:t>Fragmented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48463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Assets, vulnerabilities and attack relationships can be difficult to reason about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12080" cy="17373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64008" cy="173736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673351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Multi-hop attacks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130552"/>
            <a:ext cx="48463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A low-risk weakness can become dangerous when combined with connectivity and other weaknesses.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5212080" cy="17373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657600"/>
            <a:ext cx="64008" cy="1737360"/>
          </a:xfrm>
          <a:prstGeom prst="rect">
            <a:avLst/>
          </a:prstGeom>
          <a:solidFill>
            <a:srgbClr val="48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822191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891FF"/>
                </a:solidFill>
              </a:rPr>
              <a:t>Static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279392"/>
            <a:ext cx="48463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A risk score alone does not show how an attacker could move through the network.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212080" cy="17373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657600"/>
            <a:ext cx="64008" cy="173736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822191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Defense prioritization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4279392"/>
            <a:ext cx="48463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Security teams need actionable recommendations, not only alerts.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What the prototype aims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BF1FA"/>
                </a:solidFill>
              </a:defRPr>
            </a:pPr>
            <a:r>
              <a:t>• Create a digital twin of the simulated enterprise network.</a:t>
            </a:r>
          </a:p>
          <a:p>
            <a:pPr>
              <a:spcAft>
                <a:spcPts val="1400"/>
              </a:spcAft>
              <a:defRPr sz="1700">
                <a:solidFill>
                  <a:srgbClr val="EBF1FA"/>
                </a:solidFill>
              </a:defRPr>
            </a:pPr>
            <a:r>
              <a:t>• Evaluate vulnerabilities and identify likely attack trajectories.</a:t>
            </a:r>
          </a:p>
          <a:p>
            <a:pPr>
              <a:spcAft>
                <a:spcPts val="1400"/>
              </a:spcAft>
              <a:defRPr sz="1700">
                <a:solidFill>
                  <a:srgbClr val="EBF1FA"/>
                </a:solidFill>
              </a:defRPr>
            </a:pPr>
            <a:r>
              <a:t>• Rank attack paths using network and vulnerability factors.</a:t>
            </a:r>
          </a:p>
          <a:p>
            <a:pPr>
              <a:spcAft>
                <a:spcPts val="1400"/>
              </a:spcAft>
              <a:defRPr sz="1700">
                <a:solidFill>
                  <a:srgbClr val="EBF1FA"/>
                </a:solidFill>
              </a:defRPr>
            </a:pPr>
            <a:r>
              <a:t>• Provide explainable reasons behind predicted paths and risk.</a:t>
            </a:r>
          </a:p>
          <a:p>
            <a:pPr>
              <a:spcAft>
                <a:spcPts val="1400"/>
              </a:spcAft>
              <a:defRPr sz="1700">
                <a:solidFill>
                  <a:srgbClr val="EBF1FA"/>
                </a:solidFill>
              </a:defRPr>
            </a:pPr>
            <a:r>
              <a:t>• Recommend and simulate defensive actions.</a:t>
            </a:r>
          </a:p>
          <a:p>
            <a:pPr>
              <a:spcAft>
                <a:spcPts val="1400"/>
              </a:spcAft>
              <a:defRPr sz="1700">
                <a:solidFill>
                  <a:srgbClr val="EBF1FA"/>
                </a:solidFill>
              </a:defRPr>
            </a:pPr>
            <a:r>
              <a:t>• Dynamically recalculate the network risk after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4.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Limitations addressed by the proposed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</a:defRPr>
            </a:pPr>
            <a:r>
              <a:t>• Traditional vulnerability management often focuses on individual weaknesses.</a:t>
            </a:r>
          </a:p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</a:defRPr>
            </a:pPr>
            <a:r>
              <a:t>• Separate security tools may provide asset, vulnerability, detection and response information.</a:t>
            </a:r>
          </a:p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</a:defRPr>
            </a:pPr>
            <a:r>
              <a:t>• Attack-path reasoning can be complex when many network relationships are involved.</a:t>
            </a:r>
          </a:p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</a:defRPr>
            </a:pPr>
            <a:r>
              <a:t>• The proposed prototype integrates these perspectives into one visual, simulation-oriented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434840"/>
            <a:ext cx="3383280" cy="109728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4434840"/>
            <a:ext cx="64008" cy="109728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3568" y="4599431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Key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505663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From isolated findings → connected attack-path 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5.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End-to-end closed-loop security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77440"/>
            <a:ext cx="137160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Network Model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93391" y="26883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94560" y="2377440"/>
            <a:ext cx="137160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Digital Twin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93591" y="26883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94760" y="2377440"/>
            <a:ext cx="137160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2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Prediction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193792" y="26883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60" y="2377440"/>
            <a:ext cx="137160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XAI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93992" y="26883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95160" y="2377440"/>
            <a:ext cx="137160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Risk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394192" y="26883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0" y="2377440"/>
            <a:ext cx="137160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Defense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994392" y="26883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95560" y="2377440"/>
            <a:ext cx="137160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2578608"/>
            <a:ext cx="12252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Recalculate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886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BF1FA"/>
                </a:solidFill>
              </a:defRPr>
            </a:pPr>
            <a:r>
              <a:t>• The prototype combines network topology, vulnerabilities, attack-path ranking, explanations and defense simulation.</a:t>
            </a:r>
          </a:p>
          <a:p>
            <a:pPr>
              <a:spcAft>
                <a:spcPts val="1400"/>
              </a:spcAft>
              <a:defRPr sz="1500">
                <a:solidFill>
                  <a:srgbClr val="EBF1FA"/>
                </a:solidFill>
              </a:defRPr>
            </a:pPr>
            <a:r>
              <a:t>• The result is a repeatable “what-if” security analysis rather than a one-time assessment.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6.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Frontend, backend services and Oracle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246120" cy="15087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64008" cy="150876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React SOC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84832"/>
            <a:ext cx="2880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React 18 • Vite • Tailwind • React Flow • Recharts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63040"/>
            <a:ext cx="3611880" cy="15087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463040"/>
            <a:ext cx="64008" cy="1508760"/>
          </a:xfrm>
          <a:prstGeom prst="rect">
            <a:avLst/>
          </a:prstGeom>
          <a:solidFill>
            <a:srgbClr val="48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627632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891FF"/>
                </a:solidFill>
              </a:rPr>
              <a:t>Node / Express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084832"/>
            <a:ext cx="32461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REST API on port 5000 + WebSocket telemetry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474720" cy="15087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64008" cy="150876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2763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Oracle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84832"/>
            <a:ext cx="31089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Relational schema, seed data and persistent project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657600"/>
            <a:ext cx="2926080" cy="16002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657600"/>
            <a:ext cx="64008" cy="160020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822191"/>
            <a:ext cx="2560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DigitalTwinService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279392"/>
            <a:ext cx="25603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Builds and manages the simulated network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657600"/>
            <a:ext cx="2926080" cy="16002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657600"/>
            <a:ext cx="64008" cy="1600200"/>
          </a:xfrm>
          <a:prstGeom prst="rect">
            <a:avLst/>
          </a:prstGeom>
          <a:solidFill>
            <a:srgbClr val="48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3822191"/>
            <a:ext cx="2560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891FF"/>
                </a:solidFill>
              </a:rPr>
              <a:t>PredictionEngine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279392"/>
            <a:ext cx="25603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Ranks possible attack trajectories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3657600"/>
            <a:ext cx="2926080" cy="16002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0" y="3657600"/>
            <a:ext cx="64008" cy="160020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2128" y="3822191"/>
            <a:ext cx="2560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Defense +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8" y="4279392"/>
            <a:ext cx="25603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Simulates controls and dynamically recalculates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7. Working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How a prediction moves through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44144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Assets &amp; CVEs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33472" y="255117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224028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244144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Topology Graph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73752" y="255117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224028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244144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Path Generation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14032" y="255117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224028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244144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Path Ranking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4311" y="255117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55480" y="224028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28632" y="244144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XAI 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BF1FA"/>
                </a:solidFill>
              </a:defRPr>
            </a:pPr>
            <a:r>
              <a:t>• Untrusted ingress nodes are used as possible starting points and critical assets as targets.</a:t>
            </a:r>
          </a:p>
          <a:p>
            <a:pPr>
              <a:spcAft>
                <a:spcPts val="1400"/>
              </a:spcAft>
              <a:defRPr sz="1500">
                <a:solidFill>
                  <a:srgbClr val="EBF1FA"/>
                </a:solidFill>
              </a:defRPr>
            </a:pPr>
            <a:r>
              <a:t>• The engine evaluates connectivity, exposed services, vulnerability severity, security controls and path characteristics.</a:t>
            </a:r>
          </a:p>
          <a:p>
            <a:pPr>
              <a:spcAft>
                <a:spcPts val="1400"/>
              </a:spcAft>
              <a:defRPr sz="1500">
                <a:solidFill>
                  <a:srgbClr val="EBF1FA"/>
                </a:solidFill>
              </a:defRPr>
            </a:pPr>
            <a:r>
              <a:t>• The highest-priority trajectories are surfaced for analyst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8.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Virtual representation of the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337560" cy="18288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64008" cy="182880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2"/>
            <a:ext cx="29718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Servers, endpoints and other simulated assets are represented as graph nodes.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337560" cy="18288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63040"/>
            <a:ext cx="64008" cy="1828800"/>
          </a:xfrm>
          <a:prstGeom prst="rect">
            <a:avLst/>
          </a:prstGeom>
          <a:solidFill>
            <a:srgbClr val="48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2763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891FF"/>
                </a:solidFill>
              </a:rPr>
              <a:t>Edges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84832"/>
            <a:ext cx="29718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Network relationships/connectivity define possible movement between assets.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63040"/>
            <a:ext cx="3337560" cy="18288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63040"/>
            <a:ext cx="64008" cy="182880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62763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Security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84832"/>
            <a:ext cx="29718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Vulnerabilities, open services, controls and criticality contribute to the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251960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453128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Observe Model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93541" y="456285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94710" y="4251960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7862" y="4453128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Simulate Attack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93892" y="456285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5060" y="4251960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8212" y="4453128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Apply Defense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94242" y="456285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95410" y="4251960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8562" y="4453128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Compare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9. Attack-Path Prediction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Transparent AI-Inspired Attack Path Prediction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BF1FA"/>
                </a:solidFill>
              </a:defRPr>
            </a:pPr>
            <a:r>
              <a:t>• Graph traversal identifies candidate paths from untrusted ingress nodes toward critical targets.</a:t>
            </a:r>
          </a:p>
          <a:p>
            <a:pPr>
              <a:spcAft>
                <a:spcPts val="1400"/>
              </a:spcAft>
              <a:defRPr sz="1600">
                <a:solidFill>
                  <a:srgbClr val="EBF1FA"/>
                </a:solidFill>
              </a:defRPr>
            </a:pPr>
            <a:r>
              <a:t>• Open ports / protocols and vulnerability severity contribute to path risk.</a:t>
            </a:r>
          </a:p>
          <a:p>
            <a:pPr>
              <a:spcAft>
                <a:spcPts val="1400"/>
              </a:spcAft>
              <a:defRPr sz="1600">
                <a:solidFill>
                  <a:srgbClr val="EBF1FA"/>
                </a:solidFill>
              </a:defRPr>
            </a:pPr>
            <a:r>
              <a:t>• Security-control attenuation reduces the effective risk of protected paths.</a:t>
            </a:r>
          </a:p>
          <a:p>
            <a:pPr>
              <a:spcAft>
                <a:spcPts val="1400"/>
              </a:spcAft>
              <a:defRPr sz="1600">
                <a:solidFill>
                  <a:srgbClr val="EBF1FA"/>
                </a:solidFill>
              </a:defRPr>
            </a:pPr>
            <a:r>
              <a:t>• A hop penalty discourages unnecessarily long paths.</a:t>
            </a:r>
          </a:p>
          <a:p>
            <a:pPr>
              <a:spcAft>
                <a:spcPts val="1400"/>
              </a:spcAft>
              <a:defRPr sz="1600">
                <a:solidFill>
                  <a:srgbClr val="EBF1FA"/>
                </a:solidFill>
              </a:defRPr>
            </a:pPr>
            <a:r>
              <a:t>• Candidate paths are ranked so analysts can focus on the most significant trajectories.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554480"/>
            <a:ext cx="3337560" cy="11430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0" y="1554480"/>
            <a:ext cx="64008" cy="114300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8" y="171907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Conceptual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8" y="2176272"/>
            <a:ext cx="2971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Path risk ≈ vulnerability + exposure + connectivity − controls − hop penalty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971800"/>
            <a:ext cx="3337560" cy="11430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2971800"/>
            <a:ext cx="64008" cy="114300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313639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Important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3593592"/>
            <a:ext cx="2971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The README describes this as AI-inspired and transparent—not a claim of a trained ML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10. 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Why was this attack path ranked highly?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55448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64008" cy="155448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2926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The explanation highlights contributing vulnerabilities, exposed services and network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291840" cy="155448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63040"/>
            <a:ext cx="64008" cy="1554480"/>
          </a:xfrm>
          <a:prstGeom prst="rect">
            <a:avLst/>
          </a:prstGeom>
          <a:solidFill>
            <a:srgbClr val="48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2763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891FF"/>
                </a:solidFill>
              </a:rPr>
              <a:t>Causal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84832"/>
            <a:ext cx="2926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The system provides a natural-language justification for the selected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291840" cy="155448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64008" cy="155448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62763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Analyst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84832"/>
            <a:ext cx="2926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Security teams can understand and validate the prediction instead of treating it as a black box.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77639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178807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Path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93541" y="42885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94710" y="3977639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7862" y="4178807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Factors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93892" y="42885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5060" y="3977639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8212" y="4178807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Reasoning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94242" y="42885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95410" y="3977639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8562" y="4178807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Analyst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11. Dynamic Risk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Risk changes when the simulated security state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00400" cy="155448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554480"/>
          </a:xfrm>
          <a:prstGeom prst="rect">
            <a:avLst/>
          </a:prstGeom>
          <a:solidFill>
            <a:srgbClr val="F55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5D70"/>
                </a:solidFill>
              </a:rPr>
              <a:t>Before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2834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Current vulnerabilities + exposure + attack-path factors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00400" cy="155448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64008" cy="155448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581912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Apply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39112"/>
            <a:ext cx="2834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Patch, restrict service, strengthen control or otherwise simulate mitigation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200400" cy="155448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64008" cy="155448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581912"/>
            <a:ext cx="2834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After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039112"/>
            <a:ext cx="2834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Risk engine recalculates the network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86200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087368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Initial Risk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93541" y="419709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94710" y="3886200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7862" y="4087368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Defense Action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93892" y="419709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5060" y="3886200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8212" y="4087368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Recalculate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94242" y="419709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95410" y="3886200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8562" y="4087368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12. Defense Recommendation &amp;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From prediction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</a:defRPr>
            </a:pPr>
            <a:r>
              <a:t>• Prioritize mitigations that reduce the most important attack paths.</a:t>
            </a:r>
          </a:p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</a:defRPr>
            </a:pPr>
            <a:r>
              <a:t>• Simulate a defensive change before treating it as an operational decision.</a:t>
            </a:r>
          </a:p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</a:defRPr>
            </a:pPr>
            <a:r>
              <a:t>• Re-run the risk engine to observe the effect of the simulated control.</a:t>
            </a:r>
          </a:p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</a:defRPr>
            </a:pPr>
            <a:r>
              <a:t>• Store the simulation outcome for review and comparison.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4251960"/>
            <a:ext cx="3108960" cy="109728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4251960"/>
            <a:ext cx="64008" cy="109728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441655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Closed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48737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Predict → Explain → Defend → Recalculate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13. What-If Attack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Explore hypothetical security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39572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Choose Asset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33472" y="250545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219456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239572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Change State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73752" y="250545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219456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239572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Simulate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14032" y="250545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219456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239572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Measure Risk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4311" y="250545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55480" y="219456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28632" y="239572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BF1FA"/>
                </a:solidFill>
              </a:defRPr>
            </a:pPr>
            <a:r>
              <a:t>• Example questions: What if an exposed service is disabled? What if a vulnerability is mitigated? What if a security control is strengthened?</a:t>
            </a:r>
          </a:p>
          <a:p>
            <a:pPr>
              <a:spcAft>
                <a:spcPts val="1400"/>
              </a:spcAft>
              <a:defRPr sz="1600">
                <a:solidFill>
                  <a:srgbClr val="EBF1FA"/>
                </a:solidFill>
              </a:defRPr>
            </a:pPr>
            <a:r>
              <a:t>• The goal is to compare possible states safely without performing real exploitation.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14. MITRE ATT&amp;CK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Connect predicted behavior with a recognized attack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8288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64008" cy="182880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Technique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3017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Attack techniques can be displayed alongside predicted paths.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8288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64008" cy="1828800"/>
          </a:xfrm>
          <a:prstGeom prst="rect">
            <a:avLst/>
          </a:prstGeom>
          <a:solidFill>
            <a:srgbClr val="48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276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891FF"/>
                </a:solidFill>
              </a:rPr>
              <a:t>Analyst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84832"/>
            <a:ext cx="3017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Provides a common vocabulary for discussing adversary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18288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276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Prioritization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84832"/>
            <a:ext cx="3017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Helps connect path analysis to defensive planning.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361688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Attack Path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93541" y="447141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94710" y="4160520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7862" y="4361688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Technique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93892" y="447141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5060" y="4160520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8212" y="4361688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Tactic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94242" y="447141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95410" y="4160520"/>
            <a:ext cx="257175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8562" y="4361688"/>
            <a:ext cx="242544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Defense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15.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Tools used in the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18288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48463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React 18, Vite, Tailwind CSS, Framer Motion, React Flow, Recharts, Lucide 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8288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1828800"/>
          </a:xfrm>
          <a:prstGeom prst="rect">
            <a:avLst/>
          </a:prstGeom>
          <a:solidFill>
            <a:srgbClr val="48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58191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891FF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039112"/>
            <a:ext cx="48463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Node.js, Express, WebSocket, modular services/controllers/routes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5212080" cy="18288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657600"/>
            <a:ext cx="64008" cy="182880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822191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279392"/>
            <a:ext cx="48463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Oracle Database XE with node-oracledb Thick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212080" cy="18288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657600"/>
            <a:ext cx="64008" cy="1828800"/>
          </a:xfrm>
          <a:prstGeom prst="rect">
            <a:avLst/>
          </a:prstGeom>
          <a:solidFill>
            <a:srgbClr val="F55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822191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5D70"/>
                </a:solidFill>
              </a:rPr>
              <a:t>Security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4279392"/>
            <a:ext cx="48463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Digital Twin, attack-path ranking, XAI, dynamic risk and simulation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16. Major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Core components of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560320" cy="17373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64008" cy="173736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9047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47672"/>
            <a:ext cx="2194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SOC overview, risk and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560320" cy="17373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64008" cy="1737360"/>
          </a:xfrm>
          <a:prstGeom prst="rect">
            <a:avLst/>
          </a:prstGeom>
          <a:solidFill>
            <a:srgbClr val="48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49047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891FF"/>
                </a:solidFill>
              </a:rPr>
              <a:t>Digital Twin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1947672"/>
            <a:ext cx="2194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Interactive network topology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2560320" cy="17373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64008" cy="173736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49047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Attack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1947672"/>
            <a:ext cx="2194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Predicted/ranked attack paths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25880"/>
            <a:ext cx="2560320" cy="17373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325880"/>
            <a:ext cx="64008" cy="1737360"/>
          </a:xfrm>
          <a:prstGeom prst="rect">
            <a:avLst/>
          </a:prstGeom>
          <a:solidFill>
            <a:srgbClr val="F55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149047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5D70"/>
                </a:solidFill>
              </a:rPr>
              <a:t>Attack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1947672"/>
            <a:ext cx="2194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Detailed path inspection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66160"/>
            <a:ext cx="2560320" cy="17373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66160"/>
            <a:ext cx="64008" cy="173736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73075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Vulnerabilities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187952"/>
            <a:ext cx="2194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CVE/CVSS-oriented asset weaknesses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566160"/>
            <a:ext cx="2560320" cy="17373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3566160"/>
            <a:ext cx="64008" cy="1737360"/>
          </a:xfrm>
          <a:prstGeom prst="rect">
            <a:avLst/>
          </a:prstGeom>
          <a:solidFill>
            <a:srgbClr val="48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373075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891FF"/>
                </a:solidFill>
              </a:rPr>
              <a:t>Assets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4187952"/>
            <a:ext cx="2194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Asset inventory and criticality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566160"/>
            <a:ext cx="2560320" cy="17373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566160"/>
            <a:ext cx="64008" cy="173736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7" y="373075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Defense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4187952"/>
            <a:ext cx="2194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Recommendations and simulation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566160"/>
            <a:ext cx="2560320" cy="173736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566160"/>
            <a:ext cx="64008" cy="1737360"/>
          </a:xfrm>
          <a:prstGeom prst="rect">
            <a:avLst/>
          </a:prstGeom>
          <a:solidFill>
            <a:srgbClr val="F55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73075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5D70"/>
                </a:solidFill>
              </a:rPr>
              <a:t>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8" y="4187952"/>
            <a:ext cx="2194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Saved simulation outcomes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17. Demonstration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Suggested seminar demo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171575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350008"/>
            <a:ext cx="102527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Dashboard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93367" y="24597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94535" y="2148840"/>
            <a:ext cx="1171575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7687" y="2350008"/>
            <a:ext cx="102527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Digital Twin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93541" y="24597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94710" y="2148840"/>
            <a:ext cx="1171575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7862" y="2350008"/>
            <a:ext cx="102527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Select Server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93717" y="24597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94885" y="2148840"/>
            <a:ext cx="1171575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8037" y="2350008"/>
            <a:ext cx="102527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Predict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3892" y="24597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5060" y="2148840"/>
            <a:ext cx="1171575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8212" y="2350008"/>
            <a:ext cx="102527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Explain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94067" y="24597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95235" y="2148840"/>
            <a:ext cx="1171575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8387" y="2350008"/>
            <a:ext cx="102527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Defend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94242" y="24597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95410" y="2148840"/>
            <a:ext cx="1171575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8562" y="2350008"/>
            <a:ext cx="102527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What-If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94417" y="2459736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95585" y="2148840"/>
            <a:ext cx="1171575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8737" y="2350008"/>
            <a:ext cx="102527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65760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BF1FA"/>
                </a:solidFill>
              </a:defRPr>
            </a:pPr>
            <a:r>
              <a:t>• Start with the network overview and current risk.</a:t>
            </a:r>
          </a:p>
          <a:p>
            <a:pPr>
              <a:spcAft>
                <a:spcPts val="1400"/>
              </a:spcAft>
              <a:defRPr sz="1400">
                <a:solidFill>
                  <a:srgbClr val="EBF1FA"/>
                </a:solidFill>
              </a:defRPr>
            </a:pPr>
            <a:r>
              <a:t>• Select an important asset and generate predicted attack paths.</a:t>
            </a:r>
          </a:p>
          <a:p>
            <a:pPr>
              <a:spcAft>
                <a:spcPts val="1400"/>
              </a:spcAft>
              <a:defRPr sz="1400">
                <a:solidFill>
                  <a:srgbClr val="EBF1FA"/>
                </a:solidFill>
              </a:defRPr>
            </a:pPr>
            <a:r>
              <a:t>• Open the explanation to show why the path is risky.</a:t>
            </a:r>
          </a:p>
          <a:p>
            <a:pPr>
              <a:spcAft>
                <a:spcPts val="1400"/>
              </a:spcAft>
              <a:defRPr sz="1400">
                <a:solidFill>
                  <a:srgbClr val="EBF1FA"/>
                </a:solidFill>
              </a:defRPr>
            </a:pPr>
            <a:r>
              <a:t>• Run a defense simulation and compare the recalculated risk.</a:t>
            </a:r>
          </a:p>
          <a:p>
            <a:pPr>
              <a:spcAft>
                <a:spcPts val="1400"/>
              </a:spcAft>
              <a:defRPr sz="1400">
                <a:solidFill>
                  <a:srgbClr val="EBF1FA"/>
                </a:solidFill>
              </a:defRPr>
            </a:pPr>
            <a:r>
              <a:t>• Use What-If simulation to demonstrate another scenario.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18.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Why this prototype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BF1FA"/>
                </a:solidFill>
              </a:defRPr>
            </a:pPr>
            <a:r>
              <a:t>• Visual understanding of complex network relationships.</a:t>
            </a:r>
          </a:p>
          <a:p>
            <a:pPr>
              <a:spcAft>
                <a:spcPts val="1400"/>
              </a:spcAft>
              <a:defRPr sz="1700">
                <a:solidFill>
                  <a:srgbClr val="EBF1FA"/>
                </a:solidFill>
              </a:defRPr>
            </a:pPr>
            <a:r>
              <a:t>• Prioritized attack paths instead of isolated vulnerability lists.</a:t>
            </a:r>
          </a:p>
          <a:p>
            <a:pPr>
              <a:spcAft>
                <a:spcPts val="1400"/>
              </a:spcAft>
              <a:defRPr sz="1700">
                <a:solidFill>
                  <a:srgbClr val="EBF1FA"/>
                </a:solidFill>
              </a:defRPr>
            </a:pPr>
            <a:r>
              <a:t>• Transparent reasoning that supports analyst trust.</a:t>
            </a:r>
          </a:p>
          <a:p>
            <a:pPr>
              <a:spcAft>
                <a:spcPts val="1400"/>
              </a:spcAft>
              <a:defRPr sz="1700">
                <a:solidFill>
                  <a:srgbClr val="EBF1FA"/>
                </a:solidFill>
              </a:defRPr>
            </a:pPr>
            <a:r>
              <a:t>• Safe what-if experimentation without real exploitation.</a:t>
            </a:r>
          </a:p>
          <a:p>
            <a:pPr>
              <a:spcAft>
                <a:spcPts val="1400"/>
              </a:spcAft>
              <a:defRPr sz="1700">
                <a:solidFill>
                  <a:srgbClr val="EBF1FA"/>
                </a:solidFill>
              </a:defRPr>
            </a:pPr>
            <a:r>
              <a:t>• Defense recommendations connected to measurable risk changes.</a:t>
            </a:r>
          </a:p>
          <a:p>
            <a:pPr>
              <a:spcAft>
                <a:spcPts val="1400"/>
              </a:spcAft>
              <a:defRPr sz="1700">
                <a:solidFill>
                  <a:srgbClr val="EBF1FA"/>
                </a:solidFill>
              </a:defRPr>
            </a:pPr>
            <a:r>
              <a:t>• Centralized workflow for prediction, explanation, simulation and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19.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What can be improved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347472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3474720"/>
          </a:xfrm>
          <a:prstGeom prst="rect">
            <a:avLst/>
          </a:prstGeom>
          <a:solidFill>
            <a:srgbClr val="FF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AE4A"/>
                </a:solidFill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48463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• Prediction currently evaluates simulated network models.
• The README does not describe a trained ML model in the current prediction engine.
• Live EDR/SIEM integration is not the current focus.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47472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3474720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58191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1DCBE"/>
                </a:solidFill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039112"/>
            <a:ext cx="48463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• Integrate live telemetry from EDR/SIEM sources.
• Use richer vulnerability/attack intelligence such as NVD/STIX.
• Replace/extend the transparent engine with trained ML or DRL models.
• Improve real-time updates and prediction accuracy.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BF1FA"/>
                </a:solidFill>
              </a:rPr>
              <a:t>20.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B5C9"/>
                </a:solidFill>
              </a:rPr>
              <a:t>Key takeaway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30428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Model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33472" y="2414015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210312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230428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Predict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73752" y="2414015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210312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230428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Explain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14032" y="2414015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210312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230428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Defend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4311" y="2414015"/>
            <a:ext cx="173736" cy="256032"/>
          </a:xfrm>
          <a:prstGeom prst="rightArrow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55480" y="2103120"/>
            <a:ext cx="2011680" cy="914400"/>
          </a:xfrm>
          <a:prstGeom prst="roundRect">
            <a:avLst/>
          </a:prstGeom>
          <a:solidFill>
            <a:srgbClr val="141D2E"/>
          </a:solidFill>
          <a:ln>
            <a:solidFill>
              <a:srgbClr val="41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28632" y="2304288"/>
            <a:ext cx="186537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BF1FA"/>
                </a:solidFill>
              </a:rPr>
              <a:t>Recalculate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EBF1FA"/>
                </a:solidFill>
              </a:defRPr>
            </a:pPr>
            <a:r>
              <a:t>• The project demonstrates an end-to-end cybersecurity digital-twin workflow.</a:t>
            </a:r>
          </a:p>
          <a:p>
            <a:pPr>
              <a:spcAft>
                <a:spcPts val="1400"/>
              </a:spcAft>
              <a:defRPr sz="1600">
                <a:solidFill>
                  <a:srgbClr val="EBF1FA"/>
                </a:solidFill>
              </a:defRPr>
            </a:pPr>
            <a:r>
              <a:t>• Its main value is integrating network modeling, attack-path ranking, explanation, defense simulation and dynamic risk analysis in one prototype.</a:t>
            </a:r>
          </a:p>
          <a:p>
            <a:pPr>
              <a:spcAft>
                <a:spcPts val="1400"/>
              </a:spcAft>
              <a:defRPr sz="1600">
                <a:solidFill>
                  <a:srgbClr val="EBF1FA"/>
                </a:solidFill>
              </a:defRPr>
            </a:pPr>
            <a:r>
              <a:t>• The approach provides a foundation that can later incorporate real ML models and live security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6B5C9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41DCBE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461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EBF1FA"/>
                </a:solidFill>
              </a:rP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4297680"/>
            <a:ext cx="4572000" cy="1143000"/>
          </a:xfrm>
          <a:prstGeom prst="roundRect">
            <a:avLst/>
          </a:prstGeom>
          <a:solidFill>
            <a:srgbClr val="141D2E"/>
          </a:solidFill>
          <a:ln>
            <a:solidFill>
              <a:srgbClr val="2B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94760" y="4297680"/>
            <a:ext cx="64008" cy="1143000"/>
          </a:xfrm>
          <a:prstGeom prst="rect">
            <a:avLst/>
          </a:prstGeom>
          <a:solidFill>
            <a:srgbClr val="48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95928" y="4462272"/>
            <a:ext cx="4206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891FF"/>
                </a:solidFill>
              </a:rP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5928" y="4919472"/>
            <a:ext cx="4206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EBF1FA"/>
                </a:solidFill>
              </a:rPr>
              <a:t>AI-Based Cybersecurity Digital Twin with Attack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